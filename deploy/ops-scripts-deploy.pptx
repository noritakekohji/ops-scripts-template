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Yu Gothic UI"/>
              </a:rPr>
              <a:t>ops-scripts 自動配布の仕組み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21792"/>
            <a:ext cx="11430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Yu Gothic UI"/>
              </a:rPr>
              <a:t>共通スクリプトの一元管理と、各リポジトリへの自動 MR 配布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647688"/>
            <a:ext cx="11612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Yu Gothic UI"/>
              </a:rPr>
              <a:t>ops-scripts 自動配布 仕様説明  |  1 / 3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234440"/>
            <a:ext cx="3200400" cy="3749039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1234440"/>
            <a:ext cx="3200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Yu Gothic UI"/>
              </a:rPr>
              <a:t>ops-scripts-template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1627632"/>
            <a:ext cx="3200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4A3B8"/>
                </a:solidFill>
                <a:latin typeface="Yu Gothic UI"/>
              </a:rPr>
              <a:t>（開発・管理リポジトリ）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2011680"/>
            <a:ext cx="2926080" cy="457200"/>
          </a:xfrm>
          <a:prstGeom prst="rect">
            <a:avLst/>
          </a:prstGeom>
          <a:solidFill>
            <a:srgbClr val="2D3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039112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93C5FD"/>
                </a:solidFill>
                <a:latin typeface="Courier New"/>
              </a:rPr>
              <a:t>  scripts_windows/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258568"/>
            <a:ext cx="2834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Yu Gothic UI"/>
              </a:rPr>
              <a:t>  Windows スクリプト群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2523744"/>
            <a:ext cx="2926080" cy="457200"/>
          </a:xfrm>
          <a:prstGeom prst="rect">
            <a:avLst/>
          </a:prstGeom>
          <a:solidFill>
            <a:srgbClr val="2D3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551176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93C5FD"/>
                </a:solidFill>
                <a:latin typeface="Courier New"/>
              </a:rPr>
              <a:t>  scripts_linux/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2770632"/>
            <a:ext cx="2834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Yu Gothic UI"/>
              </a:rPr>
              <a:t>  Linux スクリプト群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3035808"/>
            <a:ext cx="2926080" cy="457200"/>
          </a:xfrm>
          <a:prstGeom prst="rect">
            <a:avLst/>
          </a:prstGeom>
          <a:solidFill>
            <a:srgbClr val="2D3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3063240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93C5FD"/>
                </a:solidFill>
                <a:latin typeface="Courier New"/>
              </a:rPr>
              <a:t>  tools/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282696"/>
            <a:ext cx="2834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Yu Gothic UI"/>
              </a:rPr>
              <a:t>  ツール類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" y="3547872"/>
            <a:ext cx="2926080" cy="457200"/>
          </a:xfrm>
          <a:prstGeom prst="rect">
            <a:avLst/>
          </a:prstGeom>
          <a:solidFill>
            <a:srgbClr val="2D3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3575304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93C5FD"/>
                </a:solidFill>
                <a:latin typeface="Courier New"/>
              </a:rPr>
              <a:t>  config/default/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3794760"/>
            <a:ext cx="2834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Yu Gothic UI"/>
              </a:rPr>
              <a:t>  デフォルト設定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4059936"/>
            <a:ext cx="2926080" cy="457200"/>
          </a:xfrm>
          <a:prstGeom prst="rect">
            <a:avLst/>
          </a:prstGeom>
          <a:solidFill>
            <a:srgbClr val="2D3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4087368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93C5FD"/>
                </a:solidFill>
                <a:latin typeface="Courier New"/>
              </a:rPr>
              <a:t>  deploy/servers.yaml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4306824"/>
            <a:ext cx="2834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Yu Gothic UI"/>
              </a:rPr>
              <a:t>  サーバー台帳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703320" y="1737360"/>
            <a:ext cx="2468880" cy="5943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703320" y="1764792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Yu Gothic UI"/>
              </a:rPr>
              <a:t>main push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03320" y="2029968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Yu Gothic UI"/>
              </a:rPr>
              <a:t>CI パイプライン起動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66160" y="1883664"/>
            <a:ext cx="18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2563EB"/>
                </a:solidFill>
                <a:latin typeface="Yu Gothic UI"/>
              </a:rPr>
              <a:t>▶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26480" y="1883664"/>
            <a:ext cx="18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2563EB"/>
                </a:solidFill>
                <a:latin typeface="Yu Gothic UI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749039" y="2560320"/>
            <a:ext cx="1188720" cy="402336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749039" y="2587752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Yu Gothic UI"/>
              </a:rPr>
              <a:t>lint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983480" y="2651760"/>
            <a:ext cx="320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Yu Gothic UI"/>
              </a:rPr>
              <a:t>→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749039" y="3035808"/>
            <a:ext cx="1188720" cy="40233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749039" y="3063240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Yu Gothic UI"/>
              </a:rPr>
              <a:t>security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983480" y="3127248"/>
            <a:ext cx="320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Yu Gothic UI"/>
              </a:rPr>
              <a:t>→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749039" y="3511296"/>
            <a:ext cx="1188720" cy="40233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749039" y="3538728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Yu Gothic UI"/>
              </a:rPr>
              <a:t>test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983480" y="3602736"/>
            <a:ext cx="320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Yu Gothic UI"/>
              </a:rPr>
              <a:t>→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749039" y="3986783"/>
            <a:ext cx="1188720" cy="402336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749039" y="4014216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Yu Gothic UI"/>
              </a:rPr>
              <a:t>sync  ✅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92240" y="1234440"/>
            <a:ext cx="5349240" cy="2423160"/>
          </a:xfrm>
          <a:prstGeom prst="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492240" y="1234440"/>
            <a:ext cx="5349240" cy="4114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537959" y="1289304"/>
            <a:ext cx="5212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Yu Gothic UI"/>
              </a:rPr>
              <a:t>  東京リポジトリ  (infra-tokyo)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675120" y="1764792"/>
            <a:ext cx="4983480" cy="59436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812279" y="1819656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E293B"/>
                </a:solidFill>
                <a:latin typeface="Yu Gothic UI"/>
              </a:rPr>
              <a:t>server-web01 (Win)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052559" y="1856232"/>
            <a:ext cx="1737360" cy="2743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052559" y="185623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Yu Gothic UI"/>
              </a:rPr>
              <a:t>✅  MR 自動作成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835640" y="187452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Yu Gothic UI"/>
              </a:rPr>
              <a:t>レビュー → マージ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675120" y="2514600"/>
            <a:ext cx="4983480" cy="59436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812279" y="2569464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E293B"/>
                </a:solidFill>
                <a:latin typeface="Yu Gothic UI"/>
              </a:rPr>
              <a:t>server-db01 (Linux)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052559" y="2606040"/>
            <a:ext cx="1737360" cy="2743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052559" y="260604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Yu Gothic UI"/>
              </a:rPr>
              <a:t>✅  MR 自動作成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835640" y="2624328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Yu Gothic UI"/>
              </a:rPr>
              <a:t>レビュー → マージ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492240" y="3840480"/>
            <a:ext cx="5349240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6492240" y="3840480"/>
            <a:ext cx="5349240" cy="4114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537959" y="3895344"/>
            <a:ext cx="5212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Yu Gothic UI"/>
              </a:rPr>
              <a:t>  大阪リポジトリ  (infra-osaka)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675120" y="4370832"/>
            <a:ext cx="4983480" cy="59436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812279" y="4425696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E293B"/>
                </a:solidFill>
                <a:latin typeface="Yu Gothic UI"/>
              </a:rPr>
              <a:t>server-web02 (Win)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052559" y="4462272"/>
            <a:ext cx="1737360" cy="2743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052559" y="446227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Yu Gothic UI"/>
              </a:rPr>
              <a:t>✅  MR 自動作成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835640" y="448056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Yu Gothic UI"/>
              </a:rPr>
              <a:t>レビュー → マージ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492240" y="5486400"/>
            <a:ext cx="5349240" cy="1097280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629400" y="5541264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E293B"/>
                </a:solidFill>
                <a:latin typeface="Yu Gothic UI"/>
              </a:rPr>
              <a:t>💡  担当者がやること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629400" y="5833872"/>
            <a:ext cx="51206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  <a:latin typeface="Yu Gothic UI"/>
              </a:rPr>
              <a:t>自動的に届いた MR を確認してマージするだけ。
スクリプトの修正・更新は ops-scripts-template 側で行います。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Yu Gothic UI"/>
              </a:rPr>
              <a:t>あなたのリポジトリに届く MR の内容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21792"/>
            <a:ext cx="11430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Yu Gothic UI"/>
              </a:rPr>
              <a:t>自動作成される Merge Request の構成と、スクリプト・コンフィグの扱い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647688"/>
            <a:ext cx="11612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Yu Gothic UI"/>
              </a:rPr>
              <a:t>ops-scripts 自動配布 仕様説明  |  2 / 3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234440"/>
            <a:ext cx="116128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234440"/>
            <a:ext cx="164592" cy="10515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280160"/>
            <a:ext cx="2743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Yu Gothic UI"/>
              </a:rPr>
              <a:t>MR タイトル例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481328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E293B"/>
                </a:solidFill>
                <a:latin typeface="Yu Gothic UI"/>
              </a:rPr>
              <a:t>   [Ops Sync] server-web01 スクリプト更新 (abc1234)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" y="1901952"/>
            <a:ext cx="1325880" cy="2560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1901952"/>
            <a:ext cx="1325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Yu Gothic UI"/>
              </a:rPr>
              <a:t>ops-sync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993392" y="1901952"/>
            <a:ext cx="1325880" cy="256032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993392" y="1901952"/>
            <a:ext cx="1325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Yu Gothic UI"/>
              </a:rPr>
              <a:t>automated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2468880"/>
            <a:ext cx="5486400" cy="4114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2496312"/>
            <a:ext cx="5303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Yu Gothic UI"/>
              </a:rPr>
              <a:t>  📄  スクリプト（scripts/ 配下）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880360"/>
            <a:ext cx="5486400" cy="384048"/>
          </a:xfrm>
          <a:prstGeom prst="rect">
            <a:avLst/>
          </a:prstGeom>
          <a:solidFill>
            <a:srgbClr val="FEF9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290779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D97706"/>
                </a:solidFill>
                <a:latin typeface="Yu Gothic UI"/>
              </a:rPr>
              <a:t>  ⚠  常に上書き更新（既存ファイルは最新版で置換）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3337560"/>
            <a:ext cx="548640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3383279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E293B"/>
                </a:solidFill>
                <a:latin typeface="Courier New"/>
              </a:rPr>
              <a:t>  📝  server-web01/scripts/lib/Logging.psm1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3721608"/>
            <a:ext cx="5486400" cy="34747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3767328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E293B"/>
                </a:solidFill>
                <a:latin typeface="Courier New"/>
              </a:rPr>
              <a:t>  📝  server-web01/scripts/lib/Config.psm1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4105656"/>
            <a:ext cx="548640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4151376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E293B"/>
                </a:solidFill>
                <a:latin typeface="Courier New"/>
              </a:rPr>
              <a:t>  📝  server-web01/scripts/os/Get-ServerInfo.ps1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4489704"/>
            <a:ext cx="5486400" cy="34747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4535424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E293B"/>
                </a:solidFill>
                <a:latin typeface="Courier New"/>
              </a:rPr>
              <a:t>  📝  server-web01/scripts/os/Rotate-Log.ps1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4873752"/>
            <a:ext cx="548640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5760" y="4919472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E293B"/>
                </a:solidFill>
                <a:latin typeface="Courier New"/>
              </a:rPr>
              <a:t>  📝  server-web01/scripts/os/Deploy-Scripts.ps1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5257800"/>
            <a:ext cx="548640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1480" y="5303520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4748B"/>
                </a:solidFill>
                <a:latin typeface="Yu Gothic UI"/>
              </a:rPr>
              <a:t>ターゲットリポジトリのディレクトリ構造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80" y="5577840"/>
            <a:ext cx="52120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1E293B"/>
                </a:solidFill>
                <a:latin typeface="Courier New"/>
              </a:rPr>
              <a:t>server-web01/
  ├─ scripts/   ← 自動更新（上書き）
  │    ├─ lib/   os/   ...
  └─ config/   ← 初回のみ、以降は各自管理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080760" y="2468880"/>
            <a:ext cx="5760720" cy="41148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17920" y="2496312"/>
            <a:ext cx="5486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Yu Gothic UI"/>
              </a:rPr>
              <a:t>  ⚙  コンフィグ（config/ 配下）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080760" y="2880360"/>
            <a:ext cx="5760720" cy="1325880"/>
          </a:xfrm>
          <a:prstGeom prst="rect">
            <a:avLst/>
          </a:prstGeom>
          <a:solidFill>
            <a:srgbClr val="FFFFFF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17920" y="2926080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6A34A"/>
                </a:solidFill>
                <a:latin typeface="Yu Gothic UI"/>
              </a:rPr>
              <a:t>✅  初回デプロイ時（ファイルが存在しない）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7920" y="321868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Yu Gothic UI"/>
              </a:rPr>
              <a:t>config/default/global.conf からコピー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589520" y="3520440"/>
            <a:ext cx="3200400" cy="2743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89520" y="35204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Yu Gothic UI"/>
              </a:rPr>
              <a:t>MR に「新規作成」として記録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17920" y="3858768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E293B"/>
                </a:solidFill>
                <a:latin typeface="Yu Gothic UI"/>
              </a:rPr>
              <a:t>→  環境に合わせて内容を編集してください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080760" y="4315968"/>
            <a:ext cx="5760720" cy="1325880"/>
          </a:xfrm>
          <a:prstGeom prst="rect">
            <a:avLst/>
          </a:prstGeom>
          <a:solidFill>
            <a:srgbClr val="FFFFFF"/>
          </a:solidFill>
          <a:ln w="1905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17920" y="4361688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4748B"/>
                </a:solidFill>
                <a:latin typeface="Yu Gothic UI"/>
              </a:rPr>
              <a:t>⏭  2回目以降（ファイルが既に存在する）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17920" y="4654296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Yu Gothic UI"/>
              </a:rPr>
              <a:t>既存ファイルはそのまま保持（上書きしない）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589520" y="4956048"/>
            <a:ext cx="3200400" cy="27432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589520" y="495604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Yu Gothic UI"/>
              </a:rPr>
              <a:t>MR に「スキップ」として記録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17920" y="5285232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E293B"/>
                </a:solidFill>
                <a:latin typeface="Yu Gothic UI"/>
              </a:rPr>
              <a:t>→  コンフィグは各リポジトリで自由に管理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080760" y="5760720"/>
            <a:ext cx="5760720" cy="822960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217920" y="5806440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E293B"/>
                </a:solidFill>
                <a:latin typeface="Yu Gothic UI"/>
              </a:rPr>
              <a:t>種別　　　　　上書き　　既存スキップ　担当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17920" y="6053328"/>
            <a:ext cx="5486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E293B"/>
                </a:solidFill>
                <a:latin typeface="Courier New"/>
              </a:rPr>
              <a:t>scripts/    ✅ あり    —              ops-scripts-template 側
config/     —          ✅ あり         各リポジトリ担当者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Yu Gothic UI"/>
              </a:rPr>
              <a:t>MR 対応のルールと注意点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21792"/>
            <a:ext cx="11430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Yu Gothic UI"/>
              </a:rPr>
              <a:t>担当者が知っておくべきこと — DO / DON'T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647688"/>
            <a:ext cx="11612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Yu Gothic UI"/>
              </a:rPr>
              <a:t>ops-scripts 自動配布 仕様説明  |  3 / 3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234440"/>
            <a:ext cx="5486400" cy="41148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261872"/>
            <a:ext cx="5303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Yu Gothic UI"/>
              </a:rPr>
              <a:t>  ✅  やること（DO）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737360"/>
            <a:ext cx="54864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8" y="1783080"/>
            <a:ext cx="52669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1E293B"/>
                </a:solidFill>
                <a:latin typeface="Yu Gothic UI"/>
              </a:rPr>
              <a:t>  MR の「差分」タブで変更内容を確認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" y="2121408"/>
            <a:ext cx="526694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Yu Gothic UI"/>
              </a:rPr>
              <a:t>  scripts/ 配下のファイルが追加・変更されていることを確認する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2587752"/>
            <a:ext cx="54864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4048" y="2633472"/>
            <a:ext cx="52669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1E293B"/>
                </a:solidFill>
                <a:latin typeface="Yu Gothic UI"/>
              </a:rPr>
              <a:t>  問題なければそのままマージ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" y="2971800"/>
            <a:ext cx="526694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Yu Gothic UI"/>
              </a:rPr>
              <a:t>  スクリプトの内容に問題がある場合は ops-scripts-template にイシューを起票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3438144"/>
            <a:ext cx="54864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4048" y="3483863"/>
            <a:ext cx="52669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1E293B"/>
                </a:solidFill>
                <a:latin typeface="Yu Gothic UI"/>
              </a:rPr>
              <a:t>  config/ は各自のリポジトリで自由に編集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" y="3822191"/>
            <a:ext cx="526694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Yu Gothic UI"/>
              </a:rPr>
              <a:t>  環境固有の設定値（ログパス、リージョン等）を自由に変更して OK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4288536"/>
            <a:ext cx="54864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4048" y="4334255"/>
            <a:ext cx="52669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1E293B"/>
                </a:solidFill>
                <a:latin typeface="Yu Gothic UI"/>
              </a:rPr>
              <a:t>  MR は 1〜2 週間以内にマージ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048" y="4672583"/>
            <a:ext cx="526694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Yu Gothic UI"/>
              </a:rPr>
              <a:t>  放置すると次の更新 MR が force push で上書きされ、レビューが煩雑になる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80760" y="1234440"/>
            <a:ext cx="5806440" cy="41148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99632" y="1261872"/>
            <a:ext cx="5577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Yu Gothic UI"/>
              </a:rPr>
              <a:t>  ❌  やってはいけないこと（DON'T）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080760" y="1737360"/>
            <a:ext cx="58064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EA3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99632" y="1783080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1E293B"/>
                </a:solidFill>
                <a:latin typeface="Yu Gothic UI"/>
              </a:rPr>
              <a:t>  scripts/ ディレクトリを直接編集しない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99632" y="2121408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Yu Gothic UI"/>
              </a:rPr>
              <a:t>  次の MR の force push でそのまま上書きされ、変更が失われます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80760" y="2587752"/>
            <a:ext cx="58064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EA3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99632" y="2633472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1E293B"/>
                </a:solidFill>
                <a:latin typeface="Yu Gothic UI"/>
              </a:rPr>
              <a:t>  MR のマージ先ブランチを変更しない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99632" y="2971800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Yu Gothic UI"/>
              </a:rPr>
              <a:t>  sync/ops-{server名} → main の構成を崩すと CI が誤動作します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080760" y="3438144"/>
            <a:ext cx="58064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EA3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99632" y="3483863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1E293B"/>
                </a:solidFill>
                <a:latin typeface="Yu Gothic UI"/>
              </a:rPr>
              <a:t>  sync/ops-* ブランチを手動で削除しない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99632" y="3822191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Yu Gothic UI"/>
              </a:rPr>
              <a:t>  CI が force push で更新するため、放置して問題ありません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" y="5212080"/>
            <a:ext cx="11612880" cy="1371600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1480" y="5266944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E293B"/>
                </a:solidFill>
                <a:latin typeface="Yu Gothic UI"/>
              </a:rPr>
              <a:t>  📋  通常フローと問い合わせ先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5577840"/>
            <a:ext cx="2148840" cy="7498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5596128"/>
            <a:ext cx="21488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Yu Gothic UI"/>
              </a:rPr>
              <a:t>MR が届く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606040" y="5742432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E293B"/>
                </a:solidFill>
                <a:latin typeface="Yu Gothic UI"/>
              </a:rPr>
              <a:t>→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017520" y="5577840"/>
            <a:ext cx="2148840" cy="74980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017520" y="5596128"/>
            <a:ext cx="21488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Yu Gothic UI"/>
              </a:rPr>
              <a:t>差分を確認
(scripts/ 変更)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166360" y="5742432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E293B"/>
                </a:solidFill>
                <a:latin typeface="Yu Gothic UI"/>
              </a:rPr>
              <a:t>→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577840" y="5577840"/>
            <a:ext cx="2148840" cy="74980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577840" y="5596128"/>
            <a:ext cx="21488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Yu Gothic UI"/>
              </a:rPr>
              <a:t>問題なし
→ マージ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26680" y="5742432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E293B"/>
                </a:solidFill>
                <a:latin typeface="Yu Gothic UI"/>
              </a:rPr>
              <a:t>→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138160" y="5577840"/>
            <a:ext cx="2148840" cy="74980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138160" y="5596128"/>
            <a:ext cx="21488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Yu Gothic UI"/>
              </a:rPr>
              <a:t>スクリプトが
最新化 ✅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378440" y="5577840"/>
            <a:ext cx="27432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DC2626"/>
                </a:solidFill>
                <a:latin typeface="Yu Gothic UI"/>
              </a:rPr>
              <a:t>問題あり
→ ops-scripts-template に Issue 起票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